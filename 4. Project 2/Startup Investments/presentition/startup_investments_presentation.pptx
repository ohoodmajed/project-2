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66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657600" cy="36576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5760720"/>
            <a:ext cx="2743200" cy="27432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|  EXPLORATORY DATA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Funding Trajectories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Follow-On Investment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Seed-Stage Investment Thesis Built on Crunchbase Funding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Ohood Majed Ahmed Saleh ·  General Assembly DSI  ·  Project 2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Startup Begins With a Bet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startup is founded, it typically raises a small seed round from angel investors or early-stage VCs to build an initial product and prove traction. The critical moment that follows is whether the company can go on to raise a follow-on round — Series A or later.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venture capital firm writing seed checks, correctly identifying which startups are most likely to progress is the difference between a portfolio that compounds in value — and one full of stalled, non-performing investments.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600200"/>
            <a:ext cx="448056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06640" y="2743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early checks from angels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seed-stage VCs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3429000"/>
            <a:ext cx="0" cy="365760"/>
          </a:xfrm>
          <a:prstGeom prst="line">
            <a:avLst/>
          </a:prstGeom>
          <a:noFill/>
          <a:ln w="25400">
            <a:solidFill>
              <a:srgbClr val="E874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Follow-On (Series A+)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4297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the company hit real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worth continued investment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5257800"/>
            <a:ext cx="393192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5440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analysis: ~54,000 Crunchbase companies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Seed Bets Never Pay 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venture capital firm struggles to reliably select seed-stage startups that will eventually secure follow-on funding — resulting in a portfolio of stalled companies. This analysis mines historical funding data to uncover the patterns that separate startups that progress from those that stall, in order to sharpen the firm's $10M seed-stage investment criteria.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398264"/>
            <a:ext cx="109728" cy="109728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convert seed capital into follow-on rounds most often?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965192"/>
            <a:ext cx="109728" cy="109728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81888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size of the seed check itself predict future success?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532120"/>
            <a:ext cx="109728" cy="109728"/>
          </a:xfrm>
          <a:prstGeom prst="ellipse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38581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geography and funding pace matter?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0" y="164592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BEAT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23317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763524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seed-stage startups ever raise a follow-on round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4572000"/>
            <a:ext cx="356616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4754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data-driven criteria that beat this baseline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Insights Start With Clean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 startup funding dataset: company profiles, funding rounds, and amounts raised.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0332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0175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~54,000 companies worldwide, spanning industries, countries, and funding stages.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2940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0175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blank/junk records, fixed data types, validated date logic, verified non-startup outliers by hand.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554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55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5548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55480" y="30175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seed-stage cohort (seed/angel funding &gt; 0) and a binary follow-on success flag.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used throughout: a seed-stage company “succeeds” if it goes on to raise any Series A–H round.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Lenses on Follow-On Success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Check Size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212848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size of the first check predict what comes next?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0881360" cy="0"/>
          </a:xfrm>
          <a:prstGeom prst="line">
            <a:avLst/>
          </a:prstGeom>
          <a:noFill/>
          <a:ln w="12700">
            <a:solidFill>
              <a:srgbClr val="323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7614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14553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convert seed money into growth?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10881360" cy="0"/>
          </a:xfrm>
          <a:prstGeom prst="line">
            <a:avLst/>
          </a:prstGeom>
          <a:noFill/>
          <a:ln w="12700">
            <a:solidFill>
              <a:srgbClr val="323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94176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941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07822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strongest follow-on ecosystems?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10881360" cy="0"/>
          </a:xfrm>
          <a:prstGeom prst="line">
            <a:avLst/>
          </a:prstGeom>
          <a:noFill/>
          <a:ln w="12700">
            <a:solidFill>
              <a:srgbClr val="323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626864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46268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Pace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01091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rounds, and how much time, does progress take?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10881360" cy="0"/>
          </a:xfrm>
          <a:prstGeom prst="line">
            <a:avLst/>
          </a:prstGeom>
          <a:noFill/>
          <a:ln w="12700">
            <a:solidFill>
              <a:srgbClr val="323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55955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54480" y="55595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Effects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59436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industry and check size combine?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01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Seed Checks, Bigger Odds</a:t>
            </a:r>
            <a:endParaRPr lang="en-US" sz="2600" dirty="0"/>
          </a:p>
        </p:txBody>
      </p:sp>
      <p:pic>
        <p:nvPicPr>
          <p:cNvPr id="4" name="Image 0" descr="images/viz2_seed_size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85216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600200"/>
            <a:ext cx="4892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9516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$742K vs $150K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995160" y="24231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seed round for startups that reached follow-on funding, vs. those that didn't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0" y="388620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that eventually raised a follow-on round had a seed check nearly 5x larger than those that didn't — a highly significant difference (p &lt; 0.001, Mann-Whitney U test). Seed check size is the single strongest signal found in this analysis.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02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Industries Are Created Equal</a:t>
            </a:r>
            <a:endParaRPr lang="en-US" sz="2600" dirty="0"/>
          </a:p>
        </p:txBody>
      </p:sp>
      <p:pic>
        <p:nvPicPr>
          <p:cNvPr id="4" name="Image 0" descr="images/viz1_industry_followo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9494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00200"/>
            <a:ext cx="3794760" cy="457200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CONVERTERS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Software, Finance,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Biotechnology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92440" y="32004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seed funding into follow-on rounds at roughly 1.5–2x the rate of categories like Education or Curated Web — a statistically significant pattern (Chi-square, p &lt; 0.001).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5120640"/>
            <a:ext cx="32918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92440" y="5303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informs where the firm's $10M thesis should concentrate.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03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Shapes the Odds</a:t>
            </a:r>
            <a:endParaRPr lang="en-US" sz="2600" dirty="0"/>
          </a:p>
        </p:txBody>
      </p:sp>
      <p:pic>
        <p:nvPicPr>
          <p:cNvPr id="4" name="Image 0" descr="images/viz3_geographic_followo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223760" cy="4453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60020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7532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75320" y="2606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Israel's follow-on rate — the highest of any major hub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75320" y="3383280"/>
            <a:ext cx="306324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75320" y="35661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 (18.8%) and Israel substantially outperform other hubs, likely reflecting deeper, more mature Series-A investor networks (Chi-square, p &lt; 0.001).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04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Takes Rounds — and Time</a:t>
            </a:r>
            <a:endParaRPr lang="en-US" sz="2600" dirty="0"/>
          </a:p>
        </p:txBody>
      </p:sp>
      <p:pic>
        <p:nvPicPr>
          <p:cNvPr id="4" name="Image 0" descr="images/viz4_funding_rounds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76072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73736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reach follow-on funding raise more rounds overall (median of 3 vs. 1), and the typical gap between a startup's seed round and its most recent round is about: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37960" y="315468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12280" y="33375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 days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12280" y="40233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 years — the benchmark checkpoint for flagging a stalled investment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37960" y="507492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how quickly a startup closes its first round after founding shows no significant relationship with follow-on success (p = 0.23) — a useful negative finding.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05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Size Matters Inside Every Industry</a:t>
            </a:r>
            <a:endParaRPr lang="en-US" sz="2600" dirty="0"/>
          </a:p>
        </p:txBody>
      </p:sp>
      <p:pic>
        <p:nvPicPr>
          <p:cNvPr id="4" name="Image 0" descr="images/viz6_multivariate_industry_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0881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nearly every top industry, startups that reached follow-on funding raised a larger median seed check than those that stalled — confirming check size is a cross-sector engine, not just a one-industry effect.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Told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" cy="777240"/>
          </a:xfrm>
          <a:prstGeom prst="round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check size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— 5x larger for companies that progressed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73152" cy="777240"/>
          </a:xfrm>
          <a:prstGeom prst="round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931920" y="2679192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Software, Fintech, Analytics &amp; Biotech lead by 1.5–2x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73152" cy="777240"/>
          </a:xfrm>
          <a:prstGeom prst="round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57530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931920" y="3575304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and Israel substantially outperform other hubs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73152" cy="777240"/>
          </a:xfrm>
          <a:prstGeom prst="round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47141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31920" y="4471416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~768 days is the typical seed-to-latest-round window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73152" cy="777240"/>
          </a:xfrm>
          <a:prstGeom prst="round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3675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to first funding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931920" y="536752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effect — safe to ignore in criteria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Data Into a $10M Thesis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Enterprise Software, Fintech, Analytics &amp; Biotechnology startups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591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larger seed checks — at or above the ~$742K historical median for success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9809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18–24 month post-seed checkpoint to flag stalled investments early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0273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US and Israel-based teams more favorably, without excluding other regions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2245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penalize startups for a slower first raise — it isn't predictive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323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this analysis is correlational and the dataset runs through ~2014 — validate against more recent funding data, and consider a causal study before finalizing investment criteria.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Funding Trajectories for Follow-On Investment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Office PowerPoint</Application>
  <PresentationFormat>شاشة عريضة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ohood majed</cp:lastModifiedBy>
  <cp:revision>2</cp:revision>
  <dcterms:created xsi:type="dcterms:W3CDTF">2026-07-11T17:50:31Z</dcterms:created>
  <dcterms:modified xsi:type="dcterms:W3CDTF">2026-07-11T17:58:52Z</dcterms:modified>
</cp:coreProperties>
</file>